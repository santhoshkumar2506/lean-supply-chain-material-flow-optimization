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Calibri"/>
              </a:rPr>
              <a:t>On-Time Delivery Rate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Delivery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VoltCell</c:v>
                </c:pt>
                <c:pt idx="1">
                  <c:v>DriveCore</c:v>
                </c:pt>
                <c:pt idx="2">
                  <c:v>PowerLogic</c:v>
                </c:pt>
                <c:pt idx="3">
                  <c:v>ThermaFlow</c:v>
                </c:pt>
                <c:pt idx="4">
                  <c:v>AutoSense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33</c:v>
                </c:pt>
                <c:pt idx="2">
                  <c:v>33</c:v>
                </c:pt>
                <c:pt idx="3">
                  <c:v>25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B7-4223-BD3B-EA6BC9E114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Calibri"/>
              </a:rPr>
              <a:t>Defect Rate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VoltCell</c:v>
                </c:pt>
                <c:pt idx="1">
                  <c:v>DriveCore</c:v>
                </c:pt>
                <c:pt idx="2">
                  <c:v>PowerLogic</c:v>
                </c:pt>
                <c:pt idx="3">
                  <c:v>ThermaFlow</c:v>
                </c:pt>
                <c:pt idx="4">
                  <c:v>AutoSense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2.0299999999999998</c:v>
                </c:pt>
                <c:pt idx="1">
                  <c:v>5.03</c:v>
                </c:pt>
                <c:pt idx="2">
                  <c:v>3.32</c:v>
                </c:pt>
                <c:pt idx="3">
                  <c:v>6.03</c:v>
                </c:pt>
                <c:pt idx="4">
                  <c:v>1.23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93-41C0-BA78-78415E4C82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Process vs. Waiting Time by Step (minutes)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Time (min)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Inbound
Unloading</c:v>
                </c:pt>
                <c:pt idx="1">
                  <c:v>Receiving &amp;
Documentation</c:v>
                </c:pt>
                <c:pt idx="2">
                  <c:v>Quality
Inspection</c:v>
                </c:pt>
                <c:pt idx="3">
                  <c:v>Storage /
Put-away</c:v>
                </c:pt>
                <c:pt idx="4">
                  <c:v>Line
Replenishment</c:v>
                </c:pt>
                <c:pt idx="5">
                  <c:v>Production
Delivery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25</c:v>
                </c:pt>
                <c:pt idx="2">
                  <c:v>40</c:v>
                </c:pt>
                <c:pt idx="3">
                  <c:v>30</c:v>
                </c:pt>
                <c:pt idx="4">
                  <c:v>28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A1-4F9D-88C5-6918506FDD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Waiting Time (min)</c:v>
                </c:pt>
              </c:strCache>
            </c:strRef>
          </c:tx>
          <c:spPr>
            <a:solidFill>
              <a:srgbClr val="9AA9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Inbound
Unloading</c:v>
                </c:pt>
                <c:pt idx="1">
                  <c:v>Receiving &amp;
Documentation</c:v>
                </c:pt>
                <c:pt idx="2">
                  <c:v>Quality
Inspection</c:v>
                </c:pt>
                <c:pt idx="3">
                  <c:v>Storage /
Put-away</c:v>
                </c:pt>
                <c:pt idx="4">
                  <c:v>Line
Replenishment</c:v>
                </c:pt>
                <c:pt idx="5">
                  <c:v>Production
Delivery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55</c:v>
                </c:pt>
                <c:pt idx="1">
                  <c:v>40</c:v>
                </c:pt>
                <c:pt idx="2">
                  <c:v>95</c:v>
                </c:pt>
                <c:pt idx="3">
                  <c:v>65</c:v>
                </c:pt>
                <c:pt idx="4">
                  <c:v>70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A1-4F9D-88C5-6918506FDD2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Current vs. Proposed Inventory by Component (units)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Inventory</c:v>
                </c:pt>
              </c:strCache>
            </c:strRef>
          </c:tx>
          <c:spPr>
            <a:solidFill>
              <a:srgbClr val="9AA9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Battery
Module</c:v>
                </c:pt>
                <c:pt idx="1">
                  <c:v>Motor
Assembly</c:v>
                </c:pt>
                <c:pt idx="2">
                  <c:v>Inverter</c:v>
                </c:pt>
                <c:pt idx="3">
                  <c:v>Cooling
Module</c:v>
                </c:pt>
                <c:pt idx="4">
                  <c:v>Sensor
Kit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1056</c:v>
                </c:pt>
                <c:pt idx="1">
                  <c:v>1280</c:v>
                </c:pt>
                <c:pt idx="2">
                  <c:v>887</c:v>
                </c:pt>
                <c:pt idx="3">
                  <c:v>1123</c:v>
                </c:pt>
                <c:pt idx="4">
                  <c:v>674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57-426E-8873-78AADC90F3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Inventory</c:v>
                </c:pt>
              </c:strCache>
            </c:strRef>
          </c:tx>
          <c:spPr>
            <a:solidFill>
              <a:srgbClr val="2FBF7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Battery
Module</c:v>
                </c:pt>
                <c:pt idx="1">
                  <c:v>Motor
Assembly</c:v>
                </c:pt>
                <c:pt idx="2">
                  <c:v>Inverter</c:v>
                </c:pt>
                <c:pt idx="3">
                  <c:v>Cooling
Module</c:v>
                </c:pt>
                <c:pt idx="4">
                  <c:v>Sensor
Kit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800</c:v>
                </c:pt>
                <c:pt idx="1">
                  <c:v>1000</c:v>
                </c:pt>
                <c:pt idx="2">
                  <c:v>700</c:v>
                </c:pt>
                <c:pt idx="3">
                  <c:v>900</c:v>
                </c:pt>
                <c:pt idx="4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57-426E-8873-78AADC90F3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Current vs. Future State KPIs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9AA9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Lead Time
(min)</c:v>
                </c:pt>
                <c:pt idx="1">
                  <c:v>Waiting Time
(min)</c:v>
                </c:pt>
                <c:pt idx="2">
                  <c:v>Travel
(m)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538</c:v>
                </c:pt>
                <c:pt idx="1">
                  <c:v>360</c:v>
                </c:pt>
                <c:pt idx="2">
                  <c:v>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62-49E1-977E-B8912D8EC9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Future</c:v>
                </c:pt>
              </c:strCache>
            </c:strRef>
          </c:tx>
          <c:spPr>
            <a:solidFill>
              <a:srgbClr val="2FBF7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Lead Time
(min)</c:v>
                </c:pt>
                <c:pt idx="1">
                  <c:v>Waiting Time
(min)</c:v>
                </c:pt>
                <c:pt idx="2">
                  <c:v>Travel
(m)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297</c:v>
                </c:pt>
                <c:pt idx="1">
                  <c:v>155</c:v>
                </c:pt>
                <c:pt idx="2">
                  <c:v>485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62-49E1-977E-B8912D8EC9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6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449E6-BFD9-ADDC-02D6-B5929229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67338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A01BF5-2B09-7070-737D-CC59264AFDB3}"/>
              </a:ext>
            </a:extLst>
          </p:cNvPr>
          <p:cNvSpPr txBox="1"/>
          <p:nvPr/>
        </p:nvSpPr>
        <p:spPr>
          <a:xfrm>
            <a:off x="2360645" y="2500604"/>
            <a:ext cx="886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/>
              <a:t>IE5617</a:t>
            </a:r>
            <a:r>
              <a:rPr lang="en-US" sz="3600" b="1" dirty="0"/>
              <a:t> Lean Concepts and Applications </a:t>
            </a:r>
            <a:endParaRPr lang="en-I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07BB01-98DB-1977-F3C0-06668BB2FF02}"/>
              </a:ext>
            </a:extLst>
          </p:cNvPr>
          <p:cNvSpPr txBox="1"/>
          <p:nvPr/>
        </p:nvSpPr>
        <p:spPr>
          <a:xfrm>
            <a:off x="3576735" y="3680556"/>
            <a:ext cx="5038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Santhosh Kumar Sudhandrakumar</a:t>
            </a:r>
            <a:br>
              <a:rPr lang="en-US" b="1" dirty="0"/>
            </a:br>
            <a:r>
              <a:rPr lang="en-US" b="1" dirty="0"/>
              <a:t>002541930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18593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Supply Chain &amp;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Flow Optimization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Component Manufacturing 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0956" y="38404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27306E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90956" y="4023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44.8%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90956" y="4892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Material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48556" y="38404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27306E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448556" y="4023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20.3%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448556" y="4892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Average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6156" y="38404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27306E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106156" y="4023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37.4%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106156" y="4892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Internal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Travel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533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Supplier Performance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19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critical EV components sourced from five suppliers with variable lead times and quality.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4008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2374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Buffer Inventory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8950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safety stock and long internal waiting time increase working capital.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5818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008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9417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Material Travel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599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Receiving, inspection, storage, and line replenishment include inconsistent work methods.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28616"/>
            <a:ext cx="411480" cy="41148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40080" y="4928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8646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303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Lean supplier-to-production flow that improves supply assurance, quality, and responsiveness.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→  Value Stream  →  Flow  →  Pull  →  Perfection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of simulated operating data across 60 supplier-month observations.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01168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E4E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56616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7432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scorecards, lead-time variability, defect rate, and Value Stream Mapping (VSM).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0080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7432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pull replenishment, 6S, point-of-use flow, standardized work, and quality controls.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201168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E4E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923544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7432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KPI reviews, visual management, audits, and continuous-improvement actions.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Performance Snapshot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3444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217920" y="123444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ThermaFlow Industries has the highest defect rate (6.03%); VoltCell Components has the strongest composite supplier score (69.8 / 100).</a:t>
            </a:r>
            <a:endParaRPr lang="en-US" sz="125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Current-State Value Stream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34440"/>
          <a:ext cx="7863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686800" y="1371600"/>
            <a:ext cx="2926080" cy="1234440"/>
          </a:xfrm>
          <a:prstGeom prst="roundRect">
            <a:avLst>
              <a:gd name="adj" fmla="val 444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8686800" y="14813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538 min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 time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0" y="2834640"/>
            <a:ext cx="2926080" cy="1234440"/>
          </a:xfrm>
          <a:prstGeom prst="roundRect">
            <a:avLst>
              <a:gd name="adj" fmla="val 444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8686800" y="29443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 min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3584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waiting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0" y="4297680"/>
            <a:ext cx="2926080" cy="1234440"/>
          </a:xfrm>
          <a:prstGeom prst="roundRect">
            <a:avLst>
              <a:gd name="adj" fmla="val 4444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8686800" y="440740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775 m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5047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travel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5806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queue occurs at Quality Inspection (95 min wait).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Future-State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9339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storage zones, standard locations, visual controls, and routine audits.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617720" y="1554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99339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queues; reposition high-frequency components closer to point of use.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0" y="137160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458200" y="1554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199339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cards trigger replenishment from actual consumption, not forecasts.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E4E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00507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defect tracking, SPC thinking, and corrective-action reviews.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338328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E4E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617720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WORK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00507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receiving, inspection, put-away, and replenishment procedures.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338328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E4E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458200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00507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scorecard and KPI reviews feed continuous-improvement events.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 &amp; Inventory Planning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34440"/>
          <a:ext cx="7863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686800" y="1463040"/>
            <a:ext cx="2926080" cy="210312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868680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20.3%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514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average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(5,019 → 4,000 units)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37947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uses average daily demand, supplier lead time, and a 15% safety factor with fixed container quantities.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vs. Future State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3444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987552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44.8%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0" y="1828800"/>
            <a:ext cx="3840480" cy="0"/>
          </a:xfrm>
          <a:prstGeom prst="line">
            <a:avLst/>
          </a:prstGeom>
          <a:noFill/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772400" y="19385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875520" y="1938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56.9%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0" y="2395728"/>
            <a:ext cx="3840480" cy="0"/>
          </a:xfrm>
          <a:prstGeom prst="line">
            <a:avLst/>
          </a:prstGeom>
          <a:noFill/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772400" y="25054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Distance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875520" y="25054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37.4%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772400" y="2962656"/>
            <a:ext cx="3840480" cy="0"/>
          </a:xfrm>
          <a:prstGeom prst="line">
            <a:avLst/>
          </a:prstGeom>
          <a:noFill/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7772400" y="30723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Ratio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0" y="30723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22.9% → 34.3%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772400" y="3529584"/>
            <a:ext cx="3840480" cy="0"/>
          </a:xfrm>
          <a:prstGeom prst="line">
            <a:avLst/>
          </a:prstGeom>
          <a:noFill/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23060" y="1463040"/>
            <a:ext cx="457200" cy="45720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6230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&amp; Align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process times, supplier metrics, and cross-functional ownership.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57700" y="1463040"/>
            <a:ext cx="457200" cy="45720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4577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E4E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56616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6S + Kanban for one high-volume component; monitor shortages and inventory.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92340" y="1463040"/>
            <a:ext cx="457200" cy="45720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2923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40080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standardized work and pull replenishment to remaining components.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126980" y="1463040"/>
            <a:ext cx="457200" cy="45720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101269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052560" y="201168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E4E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923544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scorecards, KPI boards, audits, and continuous-improvement backlog.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Impact &amp; Takeaway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5 suppliers, 5 critical components, and 6 internal material-flow steps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 44.8% reduction in supplier-to-production material lead time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 20.3% reduction in average inventory using Kanban pull replenishment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modeled internal material travel by 37.4% through future-state redesign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Lean, VSM, Kanban, 6S, supplier scorecards, and continuous improvement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551</Words>
  <Application>Microsoft Office PowerPoint</Application>
  <PresentationFormat>Widescreen</PresentationFormat>
  <Paragraphs>113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Santhosh Kumar Sudhandrakumar</cp:lastModifiedBy>
  <cp:revision>2</cp:revision>
  <dcterms:created xsi:type="dcterms:W3CDTF">2026-09-05T04:09:44Z</dcterms:created>
  <dcterms:modified xsi:type="dcterms:W3CDTF">2026-09-05T04:19:21Z</dcterms:modified>
</cp:coreProperties>
</file>